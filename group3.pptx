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Montserrat" panose="00000500000000000000" pitchFamily="2" charset="0"/>
      <p:regular r:id="rId10"/>
    </p:embeddedFont>
    <p:embeddedFont>
      <p:font typeface="Montserrat Bold" pitchFamily="2" charset="0"/>
      <p:regular r:id="rId11"/>
    </p:embeddedFont>
    <p:embeddedFont>
      <p:font typeface="Open Sans" panose="020B0606030504020204" pitchFamily="34" charset="0"/>
      <p:regular r:id="rId12"/>
    </p:embeddedFont>
    <p:embeddedFont>
      <p:font typeface="Open Sans Bold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4.fntdata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3.fntdata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2.fntdata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font" Target="fonts/font1.fntdata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A45A99-F6A3-124B-B199-5783FAADE83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5E916B-5174-034B-988D-E7E10193C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34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E916B-5174-034B-988D-E7E10193C4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33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70864" y="4238610"/>
            <a:ext cx="12746271" cy="193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2"/>
              </a:lnSpc>
            </a:pPr>
            <a:r>
              <a:rPr lang="en-US" sz="13502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- </a:t>
            </a:r>
            <a:r>
              <a:rPr lang="en-IN" sz="13502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  <a:endParaRPr lang="en-US" sz="13502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558567" y="7922448"/>
            <a:ext cx="6989044" cy="0"/>
          </a:xfrm>
          <a:prstGeom prst="line">
            <a:avLst/>
          </a:prstGeom>
          <a:ln w="66675" cap="flat">
            <a:gradFill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3740388" y="7553825"/>
            <a:ext cx="3981900" cy="737246"/>
            <a:chOff x="0" y="0"/>
            <a:chExt cx="2194986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986" cy="406400"/>
            </a:xfrm>
            <a:custGeom>
              <a:avLst/>
              <a:gdLst/>
              <a:ahLst/>
              <a:cxnLst/>
              <a:rect l="l" t="t" r="r" b="b"/>
              <a:pathLst>
                <a:path w="2194986" h="406400">
                  <a:moveTo>
                    <a:pt x="1991786" y="0"/>
                  </a:moveTo>
                  <a:cubicBezTo>
                    <a:pt x="2104010" y="0"/>
                    <a:pt x="2194986" y="90976"/>
                    <a:pt x="2194986" y="203200"/>
                  </a:cubicBezTo>
                  <a:cubicBezTo>
                    <a:pt x="2194986" y="315424"/>
                    <a:pt x="2104010" y="406400"/>
                    <a:pt x="19917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94986" cy="454025"/>
            </a:xfrm>
            <a:prstGeom prst="rect">
              <a:avLst/>
            </a:prstGeom>
          </p:spPr>
          <p:txBody>
            <a:bodyPr lIns="31690" tIns="31690" rIns="31690" bIns="31690" rtlCol="0" anchor="ctr"/>
            <a:lstStyle/>
            <a:p>
              <a:pPr marL="0" lvl="0" indent="0" algn="ctr">
                <a:lnSpc>
                  <a:spcPts val="32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54367" y="8594705"/>
            <a:ext cx="425077" cy="42507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29463" y="8593190"/>
            <a:ext cx="293547" cy="29354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12738" y="3062301"/>
            <a:ext cx="1137437" cy="113743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850174" y="4027160"/>
            <a:ext cx="349058" cy="34905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418546" y="8807243"/>
            <a:ext cx="1971124" cy="19711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425708" y="3374103"/>
            <a:ext cx="345156" cy="34515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744194" y="3269541"/>
            <a:ext cx="155786" cy="155786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362118" y="2779863"/>
            <a:ext cx="5563764" cy="413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b="1" spc="1389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WELCOME TO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982323" y="7691685"/>
            <a:ext cx="3498031" cy="413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Start Your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1380" y="166841"/>
            <a:ext cx="16173184" cy="212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Knowledge Graph Builder for Enterprise Intelligence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684564" y="9301438"/>
            <a:ext cx="1971124" cy="197112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1380" y="2666172"/>
            <a:ext cx="16747920" cy="145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9"/>
              </a:lnSpc>
            </a:pPr>
            <a:r>
              <a:rPr lang="en-US" sz="229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Overview:</a:t>
            </a:r>
          </a:p>
          <a:p>
            <a:pPr marL="0" lvl="0" indent="0" algn="l">
              <a:lnSpc>
                <a:spcPts val="3909"/>
              </a:lnSpc>
              <a:spcBef>
                <a:spcPct val="0"/>
              </a:spcBef>
            </a:pPr>
            <a:r>
              <a:rPr lang="en-US" sz="22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An AI-p</a:t>
            </a:r>
            <a:r>
              <a:rPr lang="en-US" sz="22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owered platform that automatically builds dynamic knowledge graphs from enterprise data such as documents, emails, and databases to uncover hidden insights.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684564" y="8712272"/>
            <a:ext cx="1092056" cy="109205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11380" y="5242030"/>
            <a:ext cx="7060735" cy="355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39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Features: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Aut</a:t>
            </a: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omated entity and relationship extraction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Dynamic knowledge graph generation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RAG-based semantic search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Interactive graph visualization dashboard</a:t>
            </a:r>
          </a:p>
          <a:p>
            <a:pPr marL="0" lvl="0" indent="0" algn="l">
              <a:lnSpc>
                <a:spcPts val="4079"/>
              </a:lnSpc>
              <a:spcBef>
                <a:spcPct val="0"/>
              </a:spcBef>
            </a:pPr>
            <a:endParaRPr lang="en-US" sz="2399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4079"/>
              </a:lnSpc>
              <a:spcBef>
                <a:spcPct val="0"/>
              </a:spcBef>
            </a:pPr>
            <a:endParaRPr lang="en-US" sz="2399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687192" y="5242030"/>
            <a:ext cx="7060735" cy="303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39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Benefits</a:t>
            </a:r>
            <a:r>
              <a:rPr lang="en-US" sz="23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aster and smarter decision-making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Context-aware data exploration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Improved business intelligence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Reduced manual analysis effort</a:t>
            </a:r>
          </a:p>
          <a:p>
            <a:pPr marL="0" lvl="0" indent="0" algn="l">
              <a:lnSpc>
                <a:spcPts val="4079"/>
              </a:lnSpc>
              <a:spcBef>
                <a:spcPct val="0"/>
              </a:spcBef>
            </a:pPr>
            <a:endParaRPr lang="en-US" sz="2399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1519" y="84556"/>
            <a:ext cx="16267680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7"/>
              </a:lnSpc>
            </a:pPr>
            <a:r>
              <a:rPr lang="en-US" sz="518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Ingestion &amp; Processing Layer – Overview (Customer Support Dataset)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51065" y="2394585"/>
            <a:ext cx="10808235" cy="1097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 spc="147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Goal:</a:t>
            </a:r>
          </a:p>
          <a:p>
            <a:pPr algn="l">
              <a:lnSpc>
                <a:spcPts val="2800"/>
              </a:lnSpc>
            </a:pPr>
            <a:r>
              <a:rPr lang="en-US" sz="2000" spc="12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Convert raw customer support data into clean, structured, and searchable information for building the knowledge graph.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3882" y="2046917"/>
            <a:ext cx="4261207" cy="340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0"/>
              </a:lnSpc>
              <a:spcBef>
                <a:spcPct val="0"/>
              </a:spcBef>
            </a:pPr>
            <a:r>
              <a:rPr lang="en-US" sz="2000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</a:t>
            </a:r>
            <a:r>
              <a:rPr lang="en-US" sz="2000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is the Source?</a:t>
            </a:r>
          </a:p>
          <a:p>
            <a:pPr marL="0" lvl="0" indent="0" algn="l">
              <a:lnSpc>
                <a:spcPts val="34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Customer support data includes:</a:t>
            </a:r>
          </a:p>
          <a:p>
            <a:pPr marL="431801" lvl="1" indent="-215900" algn="l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Support tickets</a:t>
            </a:r>
          </a:p>
          <a:p>
            <a:pPr marL="431801" lvl="1" indent="-215900" algn="l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Customer complaints</a:t>
            </a:r>
          </a:p>
          <a:p>
            <a:pPr marL="431801" lvl="1" indent="-215900" algn="l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Chat conversations</a:t>
            </a:r>
          </a:p>
          <a:p>
            <a:pPr marL="431801" lvl="1" indent="-215900" algn="l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Email queries</a:t>
            </a:r>
          </a:p>
          <a:p>
            <a:pPr marL="431801" lvl="1" indent="-215900" algn="l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Issue descriptions</a:t>
            </a:r>
          </a:p>
          <a:p>
            <a:pPr marL="0" lvl="0" indent="0" algn="l">
              <a:lnSpc>
                <a:spcPts val="3400"/>
              </a:lnSpc>
              <a:spcBef>
                <a:spcPct val="0"/>
              </a:spcBef>
            </a:pPr>
            <a:endParaRPr lang="en-US" sz="2000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961431" y="8092090"/>
            <a:ext cx="283334" cy="28333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91680" y="9301438"/>
            <a:ext cx="1971124" cy="19711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204536" y="5057775"/>
            <a:ext cx="12083464" cy="2549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  <a:spcBef>
                <a:spcPct val="0"/>
              </a:spcBef>
            </a:pPr>
            <a:r>
              <a:rPr lang="en-US" sz="499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</a:t>
            </a:r>
            <a:r>
              <a:rPr lang="en-US" sz="499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ow:</a:t>
            </a:r>
          </a:p>
          <a:p>
            <a:pPr marL="0" lvl="0" indent="0" algn="l">
              <a:lnSpc>
                <a:spcPts val="5949"/>
              </a:lnSpc>
              <a:spcBef>
                <a:spcPct val="0"/>
              </a:spcBef>
            </a:pPr>
            <a:r>
              <a:rPr lang="en-US" sz="349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Customer Support Data → Ingestion → Cleaning → Normalization → Indexing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3882" y="5853953"/>
            <a:ext cx="4261207" cy="294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9"/>
              </a:lnSpc>
              <a:spcBef>
                <a:spcPct val="0"/>
              </a:spcBef>
            </a:pPr>
            <a:r>
              <a:rPr lang="en-US" sz="229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</a:t>
            </a:r>
            <a:r>
              <a:rPr lang="en-US" sz="229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This Data is Important:</a:t>
            </a:r>
          </a:p>
          <a:p>
            <a:pPr marL="496569" lvl="1" indent="-248284" algn="l">
              <a:lnSpc>
                <a:spcPts val="390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Shows customer problems</a:t>
            </a:r>
          </a:p>
          <a:p>
            <a:pPr marL="496569" lvl="1" indent="-248284" algn="l">
              <a:lnSpc>
                <a:spcPts val="390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Reveals recurring issues</a:t>
            </a:r>
          </a:p>
          <a:p>
            <a:pPr marL="496569" lvl="1" indent="-248284" algn="l">
              <a:lnSpc>
                <a:spcPts val="390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Helps find product defects</a:t>
            </a:r>
          </a:p>
          <a:p>
            <a:pPr marL="496569" lvl="1" indent="-248284" algn="l">
              <a:lnSpc>
                <a:spcPts val="390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Improves service quality</a:t>
            </a:r>
          </a:p>
          <a:p>
            <a:pPr marL="0" lvl="0" indent="0" algn="l">
              <a:lnSpc>
                <a:spcPts val="3909"/>
              </a:lnSpc>
              <a:spcBef>
                <a:spcPct val="0"/>
              </a:spcBef>
            </a:pPr>
            <a:endParaRPr lang="en-US" sz="2299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7394" y="4501048"/>
            <a:ext cx="4865968" cy="4242565"/>
            <a:chOff x="0" y="0"/>
            <a:chExt cx="1281572" cy="11173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1572" cy="1117383"/>
            </a:xfrm>
            <a:custGeom>
              <a:avLst/>
              <a:gdLst/>
              <a:ahLst/>
              <a:cxnLst/>
              <a:rect l="l" t="t" r="r" b="b"/>
              <a:pathLst>
                <a:path w="1281572" h="1117383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085563"/>
                  </a:lnTo>
                  <a:cubicBezTo>
                    <a:pt x="1281572" y="1094002"/>
                    <a:pt x="1278219" y="1102096"/>
                    <a:pt x="1272252" y="1108063"/>
                  </a:cubicBezTo>
                  <a:cubicBezTo>
                    <a:pt x="1266284" y="1114031"/>
                    <a:pt x="1258191" y="1117383"/>
                    <a:pt x="1249751" y="1117383"/>
                  </a:cubicBezTo>
                  <a:lnTo>
                    <a:pt x="31821" y="1117383"/>
                  </a:lnTo>
                  <a:cubicBezTo>
                    <a:pt x="23381" y="1117383"/>
                    <a:pt x="15288" y="1114031"/>
                    <a:pt x="9320" y="1108063"/>
                  </a:cubicBezTo>
                  <a:cubicBezTo>
                    <a:pt x="3353" y="1102096"/>
                    <a:pt x="0" y="1094002"/>
                    <a:pt x="0" y="1085563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281572" cy="1145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11016" y="4501048"/>
            <a:ext cx="4865968" cy="4242565"/>
            <a:chOff x="0" y="0"/>
            <a:chExt cx="1281572" cy="11173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1572" cy="1117383"/>
            </a:xfrm>
            <a:custGeom>
              <a:avLst/>
              <a:gdLst/>
              <a:ahLst/>
              <a:cxnLst/>
              <a:rect l="l" t="t" r="r" b="b"/>
              <a:pathLst>
                <a:path w="1281572" h="1117383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085563"/>
                  </a:lnTo>
                  <a:cubicBezTo>
                    <a:pt x="1281572" y="1094002"/>
                    <a:pt x="1278219" y="1102096"/>
                    <a:pt x="1272252" y="1108063"/>
                  </a:cubicBezTo>
                  <a:cubicBezTo>
                    <a:pt x="1266284" y="1114031"/>
                    <a:pt x="1258191" y="1117383"/>
                    <a:pt x="1249751" y="1117383"/>
                  </a:cubicBezTo>
                  <a:lnTo>
                    <a:pt x="31821" y="1117383"/>
                  </a:lnTo>
                  <a:cubicBezTo>
                    <a:pt x="23381" y="1117383"/>
                    <a:pt x="15288" y="1114031"/>
                    <a:pt x="9320" y="1108063"/>
                  </a:cubicBezTo>
                  <a:cubicBezTo>
                    <a:pt x="3353" y="1102096"/>
                    <a:pt x="0" y="1094002"/>
                    <a:pt x="0" y="1085563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281572" cy="1145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60108" y="1017768"/>
            <a:ext cx="16499192" cy="803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6"/>
              </a:lnSpc>
            </a:pPr>
            <a:r>
              <a:rPr lang="en-US" sz="475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Ingestion – Collecting Customer Support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39855" y="2857940"/>
            <a:ext cx="12600106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7"/>
              </a:lnSpc>
            </a:pPr>
            <a:r>
              <a:rPr lang="en-US" sz="358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Happens in This Step?</a:t>
            </a:r>
          </a:p>
          <a:p>
            <a:pPr algn="ctr">
              <a:lnSpc>
                <a:spcPts val="2857"/>
              </a:lnSpc>
            </a:pPr>
            <a:r>
              <a:rPr lang="en-US" sz="238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The system collects customer support records from different platforms.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954638" y="4501048"/>
            <a:ext cx="4865968" cy="4242565"/>
            <a:chOff x="0" y="0"/>
            <a:chExt cx="1281572" cy="11173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81572" cy="1117383"/>
            </a:xfrm>
            <a:custGeom>
              <a:avLst/>
              <a:gdLst/>
              <a:ahLst/>
              <a:cxnLst/>
              <a:rect l="l" t="t" r="r" b="b"/>
              <a:pathLst>
                <a:path w="1281572" h="1117383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085563"/>
                  </a:lnTo>
                  <a:cubicBezTo>
                    <a:pt x="1281572" y="1094002"/>
                    <a:pt x="1278219" y="1102096"/>
                    <a:pt x="1272252" y="1108063"/>
                  </a:cubicBezTo>
                  <a:cubicBezTo>
                    <a:pt x="1266284" y="1114031"/>
                    <a:pt x="1258191" y="1117383"/>
                    <a:pt x="1249751" y="1117383"/>
                  </a:cubicBezTo>
                  <a:lnTo>
                    <a:pt x="31821" y="1117383"/>
                  </a:lnTo>
                  <a:cubicBezTo>
                    <a:pt x="23381" y="1117383"/>
                    <a:pt x="15288" y="1114031"/>
                    <a:pt x="9320" y="1108063"/>
                  </a:cubicBezTo>
                  <a:cubicBezTo>
                    <a:pt x="3353" y="1102096"/>
                    <a:pt x="0" y="1094002"/>
                    <a:pt x="0" y="1085563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281572" cy="1145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186832" y="5022390"/>
            <a:ext cx="342709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8956" y="5022390"/>
            <a:ext cx="423903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It Is Implemented: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02532" y="5441276"/>
            <a:ext cx="3795692" cy="297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0"/>
              </a:lnSpc>
              <a:spcBef>
                <a:spcPct val="0"/>
              </a:spcBef>
            </a:pPr>
            <a:endParaRPr/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Helpdesk tools (Zendesk, Freshdesk)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CRM systems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CSV / Excel files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Databases</a:t>
            </a:r>
          </a:p>
          <a:p>
            <a:pPr marL="0" lvl="0" indent="0" algn="ctr">
              <a:lnSpc>
                <a:spcPts val="3400"/>
              </a:lnSpc>
              <a:spcBef>
                <a:spcPct val="0"/>
              </a:spcBef>
            </a:pPr>
            <a:endParaRPr lang="en-US" sz="2000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46154" y="5625121"/>
            <a:ext cx="3795692" cy="297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API c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onnectors to fetch live tickets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File upload for CSV/Excel datasets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Database connectors for stored logs</a:t>
            </a:r>
          </a:p>
          <a:p>
            <a:pPr marL="0" lvl="0" indent="0" algn="ctr">
              <a:lnSpc>
                <a:spcPts val="3400"/>
              </a:lnSpc>
              <a:spcBef>
                <a:spcPct val="0"/>
              </a:spcBef>
            </a:pPr>
            <a:endParaRPr lang="en-US" sz="2000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489776" y="4903576"/>
            <a:ext cx="3795692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 Fields in Dataset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endParaRPr lang="en-US" sz="2300" b="1" spc="147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220"/>
              </a:lnSpc>
            </a:pPr>
            <a:endParaRPr lang="en-US" sz="2300" b="1" spc="147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489776" y="5625121"/>
            <a:ext cx="3795692" cy="297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Tick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et ID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Customer Name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Issue Type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Description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Priority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Date</a:t>
            </a:r>
          </a:p>
          <a:p>
            <a:pPr marL="0" lvl="0" indent="0" algn="ctr">
              <a:lnSpc>
                <a:spcPts val="3400"/>
              </a:lnSpc>
              <a:spcBef>
                <a:spcPct val="0"/>
              </a:spcBef>
            </a:pPr>
            <a:endParaRPr lang="en-US" sz="2000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761163" y="3688691"/>
            <a:ext cx="243672" cy="24367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874981" y="3688691"/>
            <a:ext cx="243672" cy="24367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004835" y="3354631"/>
            <a:ext cx="408184" cy="408184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466798" y="3354631"/>
            <a:ext cx="408184" cy="408184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7738627" y="8934113"/>
            <a:ext cx="1971124" cy="1971124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002532" y="9014800"/>
            <a:ext cx="12600106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7"/>
              </a:lnSpc>
            </a:pPr>
            <a:r>
              <a:rPr lang="en-US" sz="358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Output:</a:t>
            </a:r>
          </a:p>
          <a:p>
            <a:pPr algn="ctr">
              <a:lnSpc>
                <a:spcPts val="2857"/>
              </a:lnSpc>
            </a:pPr>
            <a:r>
              <a:rPr lang="en-US" sz="238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Raw customer support records in JSON or tabular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85750"/>
            <a:ext cx="18492510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7"/>
              </a:lnSpc>
            </a:pPr>
            <a:r>
              <a:rPr lang="en-US" sz="498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Extraction – Converting Records into Processable Text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914144" y="4949440"/>
            <a:ext cx="345156" cy="3451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84564" y="9301438"/>
            <a:ext cx="1971124" cy="197112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20612" y="2072129"/>
            <a:ext cx="17485408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spc="147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Extraction is Needed:</a:t>
            </a:r>
          </a:p>
          <a:p>
            <a:pPr algn="ctr">
              <a:lnSpc>
                <a:spcPts val="3220"/>
              </a:lnSpc>
            </a:pPr>
            <a:r>
              <a:rPr lang="en-US" sz="2300" b="1" spc="147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Customer support data is often unstructured and messy.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17428" y="3447246"/>
            <a:ext cx="5288592" cy="303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9"/>
              </a:lnSpc>
              <a:spcBef>
                <a:spcPct val="0"/>
              </a:spcBef>
            </a:pPr>
            <a:r>
              <a:rPr lang="en-US" sz="23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Implem</a:t>
            </a: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entation: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Read CSV using Pandas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Extract text fields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Separate metadata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Convert everything to plain text</a:t>
            </a:r>
          </a:p>
          <a:p>
            <a:pPr marL="0" lvl="0" indent="0" algn="l">
              <a:lnSpc>
                <a:spcPts val="4079"/>
              </a:lnSpc>
              <a:spcBef>
                <a:spcPct val="0"/>
              </a:spcBef>
            </a:pPr>
            <a:endParaRPr lang="en-US" sz="2399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67331" y="5602562"/>
            <a:ext cx="16838688" cy="3698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49"/>
              </a:lnSpc>
              <a:spcBef>
                <a:spcPct val="0"/>
              </a:spcBef>
            </a:pPr>
            <a:r>
              <a:rPr lang="en-US" sz="24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Exa</a:t>
            </a:r>
            <a:r>
              <a:rPr lang="en-US" sz="24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mple:</a:t>
            </a:r>
          </a:p>
          <a:p>
            <a:pPr marL="0" lvl="0" indent="0" algn="ctr">
              <a:lnSpc>
                <a:spcPts val="42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"App keeps crashing after login on Android"</a:t>
            </a:r>
          </a:p>
          <a:p>
            <a:pPr marL="0" lvl="0" indent="0" algn="ctr">
              <a:lnSpc>
                <a:spcPts val="42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→</a:t>
            </a:r>
          </a:p>
          <a:p>
            <a:pPr marL="0" lvl="0" indent="0" algn="ctr">
              <a:lnSpc>
                <a:spcPts val="42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Text extracted for AI processing</a:t>
            </a:r>
          </a:p>
          <a:p>
            <a:pPr marL="0" lvl="0" indent="0" algn="ctr">
              <a:lnSpc>
                <a:spcPts val="42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Output:</a:t>
            </a:r>
          </a:p>
          <a:p>
            <a:pPr marL="0" lvl="0" indent="0" algn="ctr">
              <a:lnSpc>
                <a:spcPts val="42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Structured text + metadata</a:t>
            </a:r>
          </a:p>
          <a:p>
            <a:pPr marL="0" lvl="0" indent="0" algn="ctr">
              <a:lnSpc>
                <a:spcPts val="4249"/>
              </a:lnSpc>
              <a:spcBef>
                <a:spcPct val="0"/>
              </a:spcBef>
            </a:pPr>
            <a:endParaRPr lang="en-US" sz="2499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01494" y="3099559"/>
            <a:ext cx="5288592" cy="406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9"/>
              </a:lnSpc>
              <a:spcBef>
                <a:spcPct val="0"/>
              </a:spcBef>
            </a:pPr>
            <a:r>
              <a:rPr lang="en-US" sz="23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Wh</a:t>
            </a: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at We Extract: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Problem description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Product names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Customer names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Locations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Dates</a:t>
            </a: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Issue categories</a:t>
            </a:r>
          </a:p>
          <a:p>
            <a:pPr marL="0" lvl="0" indent="0" algn="l">
              <a:lnSpc>
                <a:spcPts val="4079"/>
              </a:lnSpc>
              <a:spcBef>
                <a:spcPct val="0"/>
              </a:spcBef>
            </a:pPr>
            <a:endParaRPr lang="en-US" sz="2399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9814" y="404279"/>
            <a:ext cx="17470312" cy="180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7"/>
              </a:lnSpc>
            </a:pPr>
            <a:r>
              <a:rPr lang="en-US" sz="598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Cleaning &amp; Normalization (Customer Support Example)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6122" y="7140376"/>
            <a:ext cx="345156" cy="3451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84564" y="9301438"/>
            <a:ext cx="1971124" cy="197112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394" y="2649836"/>
            <a:ext cx="6804789" cy="5407977"/>
            <a:chOff x="0" y="0"/>
            <a:chExt cx="1792208" cy="142432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92208" cy="1424323"/>
            </a:xfrm>
            <a:custGeom>
              <a:avLst/>
              <a:gdLst/>
              <a:ahLst/>
              <a:cxnLst/>
              <a:rect l="l" t="t" r="r" b="b"/>
              <a:pathLst>
                <a:path w="1792208" h="1424323">
                  <a:moveTo>
                    <a:pt x="22754" y="0"/>
                  </a:moveTo>
                  <a:lnTo>
                    <a:pt x="1769453" y="0"/>
                  </a:lnTo>
                  <a:cubicBezTo>
                    <a:pt x="1775488" y="0"/>
                    <a:pt x="1781276" y="2397"/>
                    <a:pt x="1785543" y="6665"/>
                  </a:cubicBezTo>
                  <a:cubicBezTo>
                    <a:pt x="1789810" y="10932"/>
                    <a:pt x="1792208" y="16720"/>
                    <a:pt x="1792208" y="22754"/>
                  </a:cubicBezTo>
                  <a:lnTo>
                    <a:pt x="1792208" y="1401569"/>
                  </a:lnTo>
                  <a:cubicBezTo>
                    <a:pt x="1792208" y="1414136"/>
                    <a:pt x="1782020" y="1424323"/>
                    <a:pt x="1769453" y="1424323"/>
                  </a:cubicBezTo>
                  <a:lnTo>
                    <a:pt x="22754" y="1424323"/>
                  </a:lnTo>
                  <a:cubicBezTo>
                    <a:pt x="16720" y="1424323"/>
                    <a:pt x="10932" y="1421926"/>
                    <a:pt x="6665" y="1417659"/>
                  </a:cubicBezTo>
                  <a:cubicBezTo>
                    <a:pt x="2397" y="1413391"/>
                    <a:pt x="0" y="1407604"/>
                    <a:pt x="0" y="1401569"/>
                  </a:cubicBezTo>
                  <a:lnTo>
                    <a:pt x="0" y="22754"/>
                  </a:lnTo>
                  <a:cubicBezTo>
                    <a:pt x="0" y="10187"/>
                    <a:pt x="10187" y="0"/>
                    <a:pt x="227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792208" cy="1452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215755" y="3369449"/>
            <a:ext cx="5308066" cy="3835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9"/>
              </a:lnSpc>
              <a:spcBef>
                <a:spcPct val="0"/>
              </a:spcBef>
            </a:pPr>
            <a:r>
              <a:rPr lang="en-US" sz="259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Cle</a:t>
            </a:r>
            <a:r>
              <a:rPr lang="en-US" sz="259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aning</a:t>
            </a:r>
            <a:r>
              <a:rPr lang="en-US" sz="259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59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sz="259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</a:t>
            </a:r>
            <a:r>
              <a:rPr lang="en-US" sz="259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ep</a:t>
            </a:r>
            <a:r>
              <a:rPr lang="en-US" sz="259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sz="259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  <a:p>
            <a:pPr marL="561337" lvl="1" indent="-280669" algn="ctr">
              <a:lnSpc>
                <a:spcPts val="44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move 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moji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s, s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pecial c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aract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</a:p>
          <a:p>
            <a:pPr marL="561337" lvl="1" indent="-280669" algn="ctr">
              <a:lnSpc>
                <a:spcPts val="44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emove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ex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ra spac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es</a:t>
            </a:r>
          </a:p>
          <a:p>
            <a:pPr marL="561337" lvl="1" indent="-280669" algn="ctr">
              <a:lnSpc>
                <a:spcPts val="44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Remove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repeated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words</a:t>
            </a:r>
          </a:p>
          <a:p>
            <a:pPr marL="561337" lvl="1" indent="-280669" algn="ctr">
              <a:lnSpc>
                <a:spcPts val="44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move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i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rre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le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t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xt</a:t>
            </a:r>
          </a:p>
          <a:p>
            <a:pPr marL="0" lvl="0" indent="0" algn="ctr">
              <a:lnSpc>
                <a:spcPts val="4419"/>
              </a:lnSpc>
              <a:spcBef>
                <a:spcPct val="0"/>
              </a:spcBef>
            </a:pPr>
            <a:endParaRPr lang="en-US" sz="2599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9739032" y="2630786"/>
            <a:ext cx="6804789" cy="5407977"/>
            <a:chOff x="0" y="0"/>
            <a:chExt cx="1792208" cy="14243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92208" cy="1424323"/>
            </a:xfrm>
            <a:custGeom>
              <a:avLst/>
              <a:gdLst/>
              <a:ahLst/>
              <a:cxnLst/>
              <a:rect l="l" t="t" r="r" b="b"/>
              <a:pathLst>
                <a:path w="1792208" h="1424323">
                  <a:moveTo>
                    <a:pt x="22754" y="0"/>
                  </a:moveTo>
                  <a:lnTo>
                    <a:pt x="1769453" y="0"/>
                  </a:lnTo>
                  <a:cubicBezTo>
                    <a:pt x="1775488" y="0"/>
                    <a:pt x="1781276" y="2397"/>
                    <a:pt x="1785543" y="6665"/>
                  </a:cubicBezTo>
                  <a:cubicBezTo>
                    <a:pt x="1789810" y="10932"/>
                    <a:pt x="1792208" y="16720"/>
                    <a:pt x="1792208" y="22754"/>
                  </a:cubicBezTo>
                  <a:lnTo>
                    <a:pt x="1792208" y="1401569"/>
                  </a:lnTo>
                  <a:cubicBezTo>
                    <a:pt x="1792208" y="1414136"/>
                    <a:pt x="1782020" y="1424323"/>
                    <a:pt x="1769453" y="1424323"/>
                  </a:cubicBezTo>
                  <a:lnTo>
                    <a:pt x="22754" y="1424323"/>
                  </a:lnTo>
                  <a:cubicBezTo>
                    <a:pt x="16720" y="1424323"/>
                    <a:pt x="10932" y="1421926"/>
                    <a:pt x="6665" y="1417659"/>
                  </a:cubicBezTo>
                  <a:cubicBezTo>
                    <a:pt x="2397" y="1413391"/>
                    <a:pt x="0" y="1407604"/>
                    <a:pt x="0" y="1401569"/>
                  </a:cubicBezTo>
                  <a:lnTo>
                    <a:pt x="0" y="22754"/>
                  </a:lnTo>
                  <a:cubicBezTo>
                    <a:pt x="0" y="10187"/>
                    <a:pt x="10187" y="0"/>
                    <a:pt x="227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792208" cy="1452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487393" y="3350399"/>
            <a:ext cx="5308066" cy="328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9"/>
              </a:lnSpc>
              <a:spcBef>
                <a:spcPct val="0"/>
              </a:spcBef>
            </a:pPr>
            <a:r>
              <a:rPr lang="en-US" sz="259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Normaliz</a:t>
            </a:r>
            <a:r>
              <a:rPr lang="en-US" sz="259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ation</a:t>
            </a:r>
            <a:r>
              <a:rPr lang="en-US" sz="259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59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sz="259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</a:t>
            </a:r>
            <a:r>
              <a:rPr lang="en-US" sz="259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ep</a:t>
            </a:r>
            <a:r>
              <a:rPr lang="en-US" sz="259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sz="259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  <a:p>
            <a:pPr marL="561337" lvl="1" indent="-280669" algn="ctr">
              <a:lnSpc>
                <a:spcPts val="44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Convert t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ext t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low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ercase</a:t>
            </a:r>
          </a:p>
          <a:p>
            <a:pPr marL="561337" lvl="1" indent="-280669" algn="ctr">
              <a:lnSpc>
                <a:spcPts val="44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Standardize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issu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 nam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es</a:t>
            </a:r>
          </a:p>
          <a:p>
            <a:pPr marL="561337" lvl="1" indent="-280669" algn="ctr">
              <a:lnSpc>
                <a:spcPts val="44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Normalize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d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ate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f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ormats</a:t>
            </a:r>
          </a:p>
          <a:p>
            <a:pPr marL="561337" lvl="1" indent="-280669" algn="ctr">
              <a:lnSpc>
                <a:spcPts val="44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Expand shor</a:t>
            </a: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599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forms</a:t>
            </a:r>
          </a:p>
          <a:p>
            <a:pPr marL="0" lvl="0" indent="0" algn="ctr">
              <a:lnSpc>
                <a:spcPts val="4419"/>
              </a:lnSpc>
              <a:spcBef>
                <a:spcPct val="0"/>
              </a:spcBef>
            </a:pPr>
            <a:endParaRPr lang="en-US" sz="2599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105752" y="8283337"/>
            <a:ext cx="8114926" cy="181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05"/>
              </a:lnSpc>
              <a:spcBef>
                <a:spcPct val="0"/>
              </a:spcBef>
            </a:pPr>
            <a:r>
              <a:rPr lang="en-US" sz="217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Example</a:t>
            </a:r>
            <a:r>
              <a:rPr lang="en-US" sz="217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  <a:p>
            <a:pPr marL="0" lvl="0" indent="0" algn="ctr">
              <a:lnSpc>
                <a:spcPts val="3705"/>
              </a:lnSpc>
              <a:spcBef>
                <a:spcPct val="0"/>
              </a:spcBef>
            </a:pPr>
            <a:r>
              <a:rPr lang="en-US" sz="217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"App Crash!!! Aft</a:t>
            </a:r>
            <a:r>
              <a:rPr lang="en-US" sz="217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sz="217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 Login</a:t>
            </a:r>
            <a:r>
              <a:rPr lang="en-US" sz="217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😡"</a:t>
            </a:r>
          </a:p>
          <a:p>
            <a:pPr marL="0" lvl="0" indent="0" algn="ctr">
              <a:lnSpc>
                <a:spcPts val="3705"/>
              </a:lnSpc>
              <a:spcBef>
                <a:spcPct val="0"/>
              </a:spcBef>
            </a:pPr>
            <a:r>
              <a:rPr lang="en-US" sz="217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→</a:t>
            </a:r>
          </a:p>
          <a:p>
            <a:pPr marL="0" lvl="0" indent="0" algn="ctr">
              <a:lnSpc>
                <a:spcPts val="3705"/>
              </a:lnSpc>
              <a:spcBef>
                <a:spcPct val="0"/>
              </a:spcBef>
            </a:pPr>
            <a:r>
              <a:rPr lang="en-US" sz="217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"</a:t>
            </a:r>
            <a:r>
              <a:rPr lang="en-US" sz="217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 cra</a:t>
            </a:r>
            <a:r>
              <a:rPr lang="en-US" sz="217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 </a:t>
            </a:r>
            <a:r>
              <a:rPr lang="en-US" sz="217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after</a:t>
            </a:r>
            <a:r>
              <a:rPr lang="en-US" sz="2179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logi</a:t>
            </a:r>
            <a:r>
              <a:rPr lang="en-US" sz="2179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7394" y="4501048"/>
            <a:ext cx="4865968" cy="4242565"/>
            <a:chOff x="0" y="0"/>
            <a:chExt cx="1281572" cy="11173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1572" cy="1117383"/>
            </a:xfrm>
            <a:custGeom>
              <a:avLst/>
              <a:gdLst/>
              <a:ahLst/>
              <a:cxnLst/>
              <a:rect l="l" t="t" r="r" b="b"/>
              <a:pathLst>
                <a:path w="1281572" h="1117383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085563"/>
                  </a:lnTo>
                  <a:cubicBezTo>
                    <a:pt x="1281572" y="1094002"/>
                    <a:pt x="1278219" y="1102096"/>
                    <a:pt x="1272252" y="1108063"/>
                  </a:cubicBezTo>
                  <a:cubicBezTo>
                    <a:pt x="1266284" y="1114031"/>
                    <a:pt x="1258191" y="1117383"/>
                    <a:pt x="1249751" y="1117383"/>
                  </a:cubicBezTo>
                  <a:lnTo>
                    <a:pt x="31821" y="1117383"/>
                  </a:lnTo>
                  <a:cubicBezTo>
                    <a:pt x="23381" y="1117383"/>
                    <a:pt x="15288" y="1114031"/>
                    <a:pt x="9320" y="1108063"/>
                  </a:cubicBezTo>
                  <a:cubicBezTo>
                    <a:pt x="3353" y="1102096"/>
                    <a:pt x="0" y="1094002"/>
                    <a:pt x="0" y="1085563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281572" cy="1145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11016" y="4501048"/>
            <a:ext cx="4865968" cy="4242565"/>
            <a:chOff x="0" y="0"/>
            <a:chExt cx="1281572" cy="11173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1572" cy="1117383"/>
            </a:xfrm>
            <a:custGeom>
              <a:avLst/>
              <a:gdLst/>
              <a:ahLst/>
              <a:cxnLst/>
              <a:rect l="l" t="t" r="r" b="b"/>
              <a:pathLst>
                <a:path w="1281572" h="1117383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085563"/>
                  </a:lnTo>
                  <a:cubicBezTo>
                    <a:pt x="1281572" y="1094002"/>
                    <a:pt x="1278219" y="1102096"/>
                    <a:pt x="1272252" y="1108063"/>
                  </a:cubicBezTo>
                  <a:cubicBezTo>
                    <a:pt x="1266284" y="1114031"/>
                    <a:pt x="1258191" y="1117383"/>
                    <a:pt x="1249751" y="1117383"/>
                  </a:cubicBezTo>
                  <a:lnTo>
                    <a:pt x="31821" y="1117383"/>
                  </a:lnTo>
                  <a:cubicBezTo>
                    <a:pt x="23381" y="1117383"/>
                    <a:pt x="15288" y="1114031"/>
                    <a:pt x="9320" y="1108063"/>
                  </a:cubicBezTo>
                  <a:cubicBezTo>
                    <a:pt x="3353" y="1102096"/>
                    <a:pt x="0" y="1094002"/>
                    <a:pt x="0" y="1085563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281572" cy="1145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128499" y="1719137"/>
            <a:ext cx="11622819" cy="331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56"/>
              </a:lnSpc>
            </a:pPr>
            <a:r>
              <a:rPr lang="en-US" sz="475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Chunking, Indexing &amp; Storage (Customer Support Example)</a:t>
            </a:r>
          </a:p>
          <a:p>
            <a:pPr algn="just">
              <a:lnSpc>
                <a:spcPts val="6656"/>
              </a:lnSpc>
            </a:pPr>
            <a:endParaRPr lang="en-US" sz="4754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6656"/>
              </a:lnSpc>
            </a:pPr>
            <a:endParaRPr lang="en-US" sz="4754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1954638" y="4501048"/>
            <a:ext cx="4865968" cy="4242565"/>
            <a:chOff x="0" y="0"/>
            <a:chExt cx="1281572" cy="11173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1572" cy="1117383"/>
            </a:xfrm>
            <a:custGeom>
              <a:avLst/>
              <a:gdLst/>
              <a:ahLst/>
              <a:cxnLst/>
              <a:rect l="l" t="t" r="r" b="b"/>
              <a:pathLst>
                <a:path w="1281572" h="1117383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085563"/>
                  </a:lnTo>
                  <a:cubicBezTo>
                    <a:pt x="1281572" y="1094002"/>
                    <a:pt x="1278219" y="1102096"/>
                    <a:pt x="1272252" y="1108063"/>
                  </a:cubicBezTo>
                  <a:cubicBezTo>
                    <a:pt x="1266284" y="1114031"/>
                    <a:pt x="1258191" y="1117383"/>
                    <a:pt x="1249751" y="1117383"/>
                  </a:cubicBezTo>
                  <a:lnTo>
                    <a:pt x="31821" y="1117383"/>
                  </a:lnTo>
                  <a:cubicBezTo>
                    <a:pt x="23381" y="1117383"/>
                    <a:pt x="15288" y="1114031"/>
                    <a:pt x="9320" y="1108063"/>
                  </a:cubicBezTo>
                  <a:cubicBezTo>
                    <a:pt x="3353" y="1102096"/>
                    <a:pt x="0" y="1094002"/>
                    <a:pt x="0" y="1085563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281572" cy="1145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82999" y="4396273"/>
            <a:ext cx="3795692" cy="469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0"/>
              </a:lnSpc>
              <a:spcBef>
                <a:spcPct val="0"/>
              </a:spcBef>
            </a:pPr>
            <a:r>
              <a:rPr lang="en-US" sz="2000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Chunking:</a:t>
            </a:r>
          </a:p>
          <a:p>
            <a:pPr marL="0" lvl="0" indent="0" algn="ctr">
              <a:lnSpc>
                <a:spcPts val="34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Long comp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aint 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des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crip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ar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split i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to 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mall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pa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ts.</a:t>
            </a:r>
          </a:p>
          <a:p>
            <a:pPr marL="0" lvl="0" indent="0" algn="ctr">
              <a:lnSpc>
                <a:spcPts val="34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Exampl</a:t>
            </a:r>
            <a:r>
              <a:rPr lang="en-US" sz="2000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algn="ctr">
              <a:lnSpc>
                <a:spcPts val="34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"App cra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shes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payment fail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uppor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not r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es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ponding"</a:t>
            </a:r>
          </a:p>
          <a:p>
            <a:pPr marL="0" lvl="0" indent="0" algn="ctr">
              <a:lnSpc>
                <a:spcPts val="34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→ 3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chunks: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App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c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rash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Paym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nt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f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il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ur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Suppor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del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y</a:t>
            </a:r>
          </a:p>
          <a:p>
            <a:pPr marL="0" lvl="0" indent="0" algn="ctr">
              <a:lnSpc>
                <a:spcPts val="3400"/>
              </a:lnSpc>
              <a:spcBef>
                <a:spcPct val="0"/>
              </a:spcBef>
            </a:pPr>
            <a:endParaRPr lang="en-US" sz="2000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246154" y="5625121"/>
            <a:ext cx="3795692" cy="254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Indexing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Each chunk → c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onverted to embeddings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Stored in vector database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Metadata stored separately</a:t>
            </a:r>
          </a:p>
          <a:p>
            <a:pPr marL="0" lvl="0" indent="0" algn="ctr">
              <a:lnSpc>
                <a:spcPts val="3400"/>
              </a:lnSpc>
              <a:spcBef>
                <a:spcPct val="0"/>
              </a:spcBef>
            </a:pPr>
            <a:endParaRPr lang="en-US" sz="2000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322961" y="4932119"/>
            <a:ext cx="3795692" cy="297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 b="1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Stored Information: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Tick</a:t>
            </a: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et ID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Issue type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Product name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Priority level</a:t>
            </a:r>
          </a:p>
          <a:p>
            <a:pPr marL="431801" lvl="1" indent="-215900" algn="ctr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Date</a:t>
            </a:r>
          </a:p>
          <a:p>
            <a:pPr marL="0" lvl="0" indent="0" algn="ctr">
              <a:lnSpc>
                <a:spcPts val="3400"/>
              </a:lnSpc>
              <a:spcBef>
                <a:spcPct val="0"/>
              </a:spcBef>
            </a:pPr>
            <a:endParaRPr lang="en-US" sz="2000" u="none" strike="noStrike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761163" y="3688691"/>
            <a:ext cx="243672" cy="24367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874981" y="3688691"/>
            <a:ext cx="243672" cy="24367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04835" y="3354631"/>
            <a:ext cx="408184" cy="408184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466798" y="3354631"/>
            <a:ext cx="408184" cy="408184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7738627" y="8934113"/>
            <a:ext cx="1971124" cy="1971124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002532" y="9014800"/>
            <a:ext cx="12600106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7"/>
              </a:lnSpc>
            </a:pPr>
            <a:r>
              <a:rPr lang="en-US" sz="358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Output:</a:t>
            </a:r>
          </a:p>
          <a:p>
            <a:pPr algn="ctr">
              <a:lnSpc>
                <a:spcPts val="2857"/>
              </a:lnSpc>
            </a:pPr>
            <a:r>
              <a:rPr lang="en-US" sz="238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Customer issue → Structured → Searchable → Graph-ready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Green Modern Bold Digital Marketing Presentation</dc:title>
  <cp:lastModifiedBy>Aswathi T.K</cp:lastModifiedBy>
  <cp:revision>2</cp:revision>
  <dcterms:created xsi:type="dcterms:W3CDTF">2006-08-16T00:00:00Z</dcterms:created>
  <dcterms:modified xsi:type="dcterms:W3CDTF">2026-02-21T09:15:36Z</dcterms:modified>
  <dc:identifier>DAG-4HgCVVY</dc:identifier>
</cp:coreProperties>
</file>