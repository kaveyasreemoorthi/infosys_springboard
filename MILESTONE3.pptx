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 Bold" charset="1" panose="00000800000000000000"/>
      <p:regular r:id="rId12"/>
    </p:embeddedFont>
    <p:embeddedFont>
      <p:font typeface="Gotham Bold" charset="1" panose="00000000000000000000"/>
      <p:regular r:id="rId13"/>
    </p:embeddedFont>
    <p:embeddedFont>
      <p:font typeface="Canva Sans Bold" charset="1" panose="020B0803030501040103"/>
      <p:regular r:id="rId14"/>
    </p:embeddedFont>
    <p:embeddedFont>
      <p:font typeface="Gotham" charset="1" panose="00000000000000000000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1400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84897" y="5379918"/>
            <a:ext cx="6059445" cy="60594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20762" y="6964430"/>
            <a:ext cx="2000810" cy="4114800"/>
          </a:xfrm>
          <a:custGeom>
            <a:avLst/>
            <a:gdLst/>
            <a:ahLst/>
            <a:cxnLst/>
            <a:rect r="r" b="b" t="t" l="l"/>
            <a:pathLst>
              <a:path h="4114800" w="200081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73132" y="4114076"/>
            <a:ext cx="12198237" cy="2291464"/>
            <a:chOff x="0" y="0"/>
            <a:chExt cx="3212705" cy="6035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12704" cy="603513"/>
            </a:xfrm>
            <a:custGeom>
              <a:avLst/>
              <a:gdLst/>
              <a:ahLst/>
              <a:cxnLst/>
              <a:rect r="r" b="b" t="t" l="l"/>
              <a:pathLst>
                <a:path h="603513" w="3212704">
                  <a:moveTo>
                    <a:pt x="0" y="0"/>
                  </a:moveTo>
                  <a:lnTo>
                    <a:pt x="3212704" y="0"/>
                  </a:lnTo>
                  <a:lnTo>
                    <a:pt x="3212704" y="603513"/>
                  </a:lnTo>
                  <a:lnTo>
                    <a:pt x="0" y="603513"/>
                  </a:lnTo>
                  <a:close/>
                </a:path>
              </a:pathLst>
            </a:custGeom>
            <a:solidFill>
              <a:srgbClr val="FFFE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212705" cy="6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2872" y="1266541"/>
            <a:ext cx="16948700" cy="1846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1"/>
              </a:lnSpc>
              <a:spcBef>
                <a:spcPct val="0"/>
              </a:spcBef>
            </a:pPr>
            <a:r>
              <a:rPr lang="en-US" b="true" sz="5308" spc="743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KNOWLEDGE GRAPH BUILDER FOR ENTERPRISE INTELLIGENCE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9965724" y="-1383136"/>
            <a:ext cx="10994424" cy="109944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782775" y="3513153"/>
            <a:ext cx="9865381" cy="107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1"/>
              </a:lnSpc>
              <a:spcBef>
                <a:spcPct val="0"/>
              </a:spcBef>
            </a:pPr>
            <a:r>
              <a:rPr lang="en-US" b="true" sz="6308" spc="883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GROUP-3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37677" y="6300470"/>
            <a:ext cx="4540161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MEMBERS: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Sayan Sarkar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Kavyasree Moorthi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Aswathi TK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Pasupuleti Mounika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Srivigna Barkam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9262" y="-7887063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3420" y="9104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2470" y="815098"/>
            <a:ext cx="13444345" cy="127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9"/>
              </a:lnSpc>
            </a:pPr>
            <a:r>
              <a:rPr lang="en-US" b="true" sz="5040" spc="252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Milestone-3: Semantic Search &amp; RAG     Pipelines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450" y="3675264"/>
            <a:ext cx="13833914" cy="307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3670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Objective</a:t>
            </a:r>
          </a:p>
          <a:p>
            <a:pPr algn="l" marL="749180" indent="-374590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Enable meaning-based search over enterprise data</a:t>
            </a:r>
          </a:p>
          <a:p>
            <a:pPr algn="l" marL="749180" indent="-374590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Support natural language queries</a:t>
            </a:r>
          </a:p>
          <a:p>
            <a:pPr algn="l" marL="749180" indent="-374590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Generate accurate, explainable answers using RAG</a:t>
            </a:r>
          </a:p>
          <a:p>
            <a:pPr algn="l">
              <a:lnSpc>
                <a:spcPts val="485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3945801">
            <a:off x="13258901" y="8160857"/>
            <a:ext cx="4776403" cy="47764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3945801">
            <a:off x="13502985" y="7280426"/>
            <a:ext cx="1577153" cy="3243522"/>
          </a:xfrm>
          <a:custGeom>
            <a:avLst/>
            <a:gdLst/>
            <a:ahLst/>
            <a:cxnLst/>
            <a:rect r="r" b="b" t="t" l="l"/>
            <a:pathLst>
              <a:path h="3243522" w="1577153">
                <a:moveTo>
                  <a:pt x="0" y="0"/>
                </a:moveTo>
                <a:lnTo>
                  <a:pt x="1577153" y="0"/>
                </a:lnTo>
                <a:lnTo>
                  <a:pt x="1577153" y="3243522"/>
                </a:lnTo>
                <a:lnTo>
                  <a:pt x="0" y="3243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54220" y="-1233220"/>
            <a:ext cx="12753441" cy="127534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9201" y="114693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6630" y="1051685"/>
            <a:ext cx="13625520" cy="86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5071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RAG Pipeline with Neo4j + LangChain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95064"/>
            <a:ext cx="13625520" cy="375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4400">
                <a:solidFill>
                  <a:srgbClr val="19191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 Integration</a:t>
            </a:r>
          </a:p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191919"/>
                </a:solidFill>
                <a:latin typeface="Canva Sans"/>
                <a:ea typeface="Canva Sans"/>
                <a:cs typeface="Canva Sans"/>
                <a:sym typeface="Canva Sans"/>
              </a:rPr>
              <a:t>FAISS / Pinecone → semantic retrieval</a:t>
            </a:r>
          </a:p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191919"/>
                </a:solidFill>
                <a:latin typeface="Canva Sans"/>
                <a:ea typeface="Canva Sans"/>
                <a:cs typeface="Canva Sans"/>
                <a:sym typeface="Canva Sans"/>
              </a:rPr>
              <a:t>Neo4j → graph traversal &amp; relational reasoning</a:t>
            </a:r>
          </a:p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191919"/>
                </a:solidFill>
                <a:latin typeface="Canva Sans"/>
                <a:ea typeface="Canva Sans"/>
                <a:cs typeface="Canva Sans"/>
                <a:sym typeface="Canva Sans"/>
              </a:rPr>
              <a:t>LangChain + LLM → answer generation</a:t>
            </a:r>
          </a:p>
          <a:p>
            <a:pPr algn="l">
              <a:lnSpc>
                <a:spcPts val="5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68478" y="5946009"/>
            <a:ext cx="14145964" cy="3040134"/>
            <a:chOff x="0" y="0"/>
            <a:chExt cx="18861286" cy="405351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755871"/>
              <a:ext cx="18861286" cy="2297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Query → Semantic</a:t>
              </a:r>
              <a:r>
                <a:rPr lang="en-US" sz="5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Search → KG Subgraph</a:t>
              </a:r>
            </a:p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→ RAG (LLM) → Final Answer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5310783" cy="1333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workflow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9274" y="-1454110"/>
            <a:ext cx="12753441" cy="127534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3420" y="9104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4386180" y="5992108"/>
            <a:ext cx="6059445" cy="60594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20414" y="6964430"/>
            <a:ext cx="2000810" cy="4114800"/>
          </a:xfrm>
          <a:custGeom>
            <a:avLst/>
            <a:gdLst/>
            <a:ahLst/>
            <a:cxnLst/>
            <a:rect r="r" b="b" t="t" l="l"/>
            <a:pathLst>
              <a:path h="4114800" w="200081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1727" t="0" r="-315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1042160"/>
            <a:ext cx="14848430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Semantic</a:t>
            </a:r>
            <a:r>
              <a:rPr lang="en-US" b="true" sz="5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Search using Embeddings + FAISS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8447" y="3023361"/>
            <a:ext cx="13933315" cy="309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We Do</a:t>
            </a:r>
          </a:p>
          <a:p>
            <a:pPr algn="l" marL="949964" indent="-474982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 ticket text into embe</a:t>
            </a:r>
            <a:r>
              <a:rPr lang="en-US" sz="4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ddings (vectors)</a:t>
            </a:r>
          </a:p>
          <a:p>
            <a:pPr algn="l" marL="949964" indent="-474982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 embeddings in FAISS (local) or Pinecone (cloud)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5970" y="7278000"/>
            <a:ext cx="11093303" cy="228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</a:t>
            </a:r>
            <a:r>
              <a:rPr lang="en-US" sz="4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nefit</a:t>
            </a:r>
          </a:p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Searches by mean</a:t>
            </a: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ing, not keywords</a:t>
            </a:r>
          </a:p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 and scalable retrieval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9262" y="-7887063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3420" y="9104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2470" y="853198"/>
            <a:ext cx="13444345" cy="93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6"/>
              </a:lnSpc>
            </a:pPr>
            <a:r>
              <a:rPr lang="en-US" b="true" sz="714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Milestone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69567"/>
            <a:ext cx="13833914" cy="450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</a:pPr>
            <a:r>
              <a:rPr lang="en-US" sz="40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What We Achieved</a:t>
            </a:r>
          </a:p>
          <a:p>
            <a:pPr algn="l" marL="792361" indent="-396180" lvl="1">
              <a:lnSpc>
                <a:spcPts val="5138"/>
              </a:lnSpc>
              <a:buFont typeface="Arial"/>
              <a:buChar char="•"/>
            </a:pPr>
            <a:r>
              <a:rPr lang="en-US" sz="36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Sem</a:t>
            </a:r>
            <a:r>
              <a:rPr lang="en-US" sz="36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antic, meaning-based search</a:t>
            </a:r>
          </a:p>
          <a:p>
            <a:pPr algn="l" marL="792361" indent="-396180" lvl="1">
              <a:lnSpc>
                <a:spcPts val="5138"/>
              </a:lnSpc>
              <a:buFont typeface="Arial"/>
              <a:buChar char="•"/>
            </a:pPr>
            <a:r>
              <a:rPr lang="en-US" sz="36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Fast retrieval using vector databases</a:t>
            </a:r>
          </a:p>
          <a:p>
            <a:pPr algn="l" marL="792361" indent="-396180" lvl="1">
              <a:lnSpc>
                <a:spcPts val="5138"/>
              </a:lnSpc>
              <a:buFont typeface="Arial"/>
              <a:buChar char="•"/>
            </a:pPr>
            <a:r>
              <a:rPr lang="en-US" sz="36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Intelligent question answering using RAG</a:t>
            </a:r>
          </a:p>
          <a:p>
            <a:pPr algn="l" marL="792361" indent="-396180" lvl="1">
              <a:lnSpc>
                <a:spcPts val="5138"/>
              </a:lnSpc>
              <a:buFont typeface="Arial"/>
              <a:buChar char="•"/>
            </a:pPr>
            <a:r>
              <a:rPr lang="en-US" sz="36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Explainable and accurate results</a:t>
            </a:r>
          </a:p>
          <a:p>
            <a:pPr algn="l" marL="749180" indent="-374590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Enterprise-ready search over knowledge graph</a:t>
            </a:r>
          </a:p>
          <a:p>
            <a:pPr algn="l">
              <a:lnSpc>
                <a:spcPts val="485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3945801">
            <a:off x="13258901" y="8160857"/>
            <a:ext cx="4776403" cy="47764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3945801">
            <a:off x="13502985" y="7280426"/>
            <a:ext cx="1577153" cy="3243522"/>
          </a:xfrm>
          <a:custGeom>
            <a:avLst/>
            <a:gdLst/>
            <a:ahLst/>
            <a:cxnLst/>
            <a:rect r="r" b="b" t="t" l="l"/>
            <a:pathLst>
              <a:path h="3243522" w="1577153">
                <a:moveTo>
                  <a:pt x="0" y="0"/>
                </a:moveTo>
                <a:lnTo>
                  <a:pt x="1577153" y="0"/>
                </a:lnTo>
                <a:lnTo>
                  <a:pt x="1577153" y="3243522"/>
                </a:lnTo>
                <a:lnTo>
                  <a:pt x="0" y="3243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9262" y="-7887063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3420" y="9104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239609"/>
            <a:ext cx="13444345" cy="115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7"/>
              </a:lnSpc>
            </a:pPr>
            <a:r>
              <a:rPr lang="en-US" b="true" sz="8739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THANK YOU!!!</a:t>
            </a:r>
          </a:p>
        </p:txBody>
      </p:sp>
      <p:grpSp>
        <p:nvGrpSpPr>
          <p:cNvPr name="Group 7" id="7"/>
          <p:cNvGrpSpPr/>
          <p:nvPr/>
        </p:nvGrpSpPr>
        <p:grpSpPr>
          <a:xfrm rot="3945801">
            <a:off x="13258901" y="8160857"/>
            <a:ext cx="4776403" cy="477640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3945801">
            <a:off x="13502985" y="7280426"/>
            <a:ext cx="1577153" cy="3243522"/>
          </a:xfrm>
          <a:custGeom>
            <a:avLst/>
            <a:gdLst/>
            <a:ahLst/>
            <a:cxnLst/>
            <a:rect r="r" b="b" t="t" l="l"/>
            <a:pathLst>
              <a:path h="3243522" w="1577153">
                <a:moveTo>
                  <a:pt x="0" y="0"/>
                </a:moveTo>
                <a:lnTo>
                  <a:pt x="1577153" y="0"/>
                </a:lnTo>
                <a:lnTo>
                  <a:pt x="1577153" y="3243522"/>
                </a:lnTo>
                <a:lnTo>
                  <a:pt x="0" y="3243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DAG_s_C5TS0</dc:identifier>
  <dcterms:modified xsi:type="dcterms:W3CDTF">2011-08-01T06:04:30Z</dcterms:modified>
  <cp:revision>1</cp:revision>
  <dc:title>MILESTONE3</dc:title>
</cp:coreProperties>
</file>